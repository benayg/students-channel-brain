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15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E1524"/>
                </a:solidFill>
                <a:latin typeface="Arial"/>
              </a:rPr>
              <a:t>Configuration comparison (n = 8 questions)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Top-lecture accuracy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Chunk 1200</c:v>
                  </c:pt>
                  <c:pt idx="1">
                    <c:v>Chunk 600</c:v>
                  </c:pt>
                  <c:pt idx="2">
                    <c:v>k = 3</c:v>
                  </c:pt>
                  <c:pt idx="3">
                    <c:v>k = 5</c:v>
                  </c:pt>
                  <c:pt idx="4">
                    <c:v>Reranker OFF</c:v>
                  </c:pt>
                  <c:pt idx="5">
                    <c:v>Reranker 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62.5</c:v>
                </c:pt>
                <c:pt idx="1">
                  <c:v>50</c:v>
                </c:pt>
                <c:pt idx="2">
                  <c:v>62.5</c:v>
                </c:pt>
                <c:pt idx="3">
                  <c:v>62.5</c:v>
                </c:pt>
                <c:pt idx="4">
                  <c:v>62.5</c:v>
                </c:pt>
                <c:pt idx="5">
                  <c:v>62.5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D8CA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E15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E1524"/>
                </a:solidFill>
                <a:latin typeface="Arial"/>
              </a:rPr>
              <a:t>Pass rate by category (32/38 overall)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Direct Concept</c:v>
                  </c:pt>
                  <c:pt idx="1">
                    <c:v>Out-of-Scope</c:v>
                  </c:pt>
                  <c:pt idx="2">
                    <c:v>Weak-Topic Tracking</c:v>
                  </c:pt>
                  <c:pt idx="3">
                    <c:v>Source/Timestamp Check</c:v>
                  </c:pt>
                  <c:pt idx="4">
                    <c:v>Lecture-Specific</c:v>
                  </c:pt>
                  <c:pt idx="5">
                    <c:v>Comparison</c:v>
                  </c:pt>
                  <c:pt idx="6">
                    <c:v>Quiz Gen/Grading</c:v>
                  </c:pt>
                  <c:pt idx="7">
                    <c:v>Course Builder</c:v>
                  </c:pt>
                  <c:pt idx="8">
                    <c:v>Memory / Follow-up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83.3</c:v>
                </c:pt>
                <c:pt idx="5">
                  <c:v>80</c:v>
                </c:pt>
                <c:pt idx="6">
                  <c:v>75</c:v>
                </c:pt>
                <c:pt idx="7">
                  <c:v>66.7</c:v>
                </c:pt>
                <c:pt idx="8">
                  <c:v>60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9525" cap="flat">
              <a:solidFill>
                <a:srgbClr val="D8CA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 name before starting the timed sections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0:00–1:30 — Problem. “Students have many hours of lecture recordings but cannot query them like course material.” Set up the pain point before showing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1:30–3:00 — Goal / final product. MIT 18.06, 34 lectures, tutor + timestamps + quizzes + weak-topic memory + personalized course. Walk through each of the four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3:00–5:30 — Architecture. Walk through ingestion → RAG → reranking → agent → Gradio, stage by stage, ending on the production retrieval path (k=8 → rerank → top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5:30–7:00 — Agent architecture. Explain why this is more than a RAG chain: search, quiz, grading, weak topics, course building, memory. Note that Course Builder is called directly by the UI, not chosen by the LLM as a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7:00–9:30 — Benchmark. 1200 vs 600 chars; k=3 vs k=5; reranker on/off; all tracked in LangSmith (64 traces, 48 unique case/config runs, no errors recorded).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9:30–11:00 — Scale-up. 5 lectures → all 34; retrieve 8 → rerank → 3. Lead with why: the benchmark's reranker only saw k=3 candidates, so it could reorder but not discover better evidence — that's the technical reason production widens to k=8 before reranking, on top of it being a trainer-directed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11:00–13:00 — Final evaluation. 38 tasks, 84.2% overall, category results. Strongest: Direct Concept, Out-of-Scope, Weak-Topic, Source/Timestamp (all 100%). Weakest: Memory/Follow-up (60%) and Course Builder (66.7%).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13:00–14:00 — Failure analysis. Show 2–3 representative failures, not all six. Suggested: Task 12 (scope/completeness), Task 15 (wrong-lecture evidence), Task 36 (course-builder state tracking) — they span three different failure types. Close by noting Task 12 and 15 are also the only two citation/timestamp misses behind the 92.9% figure shown earlier — same underlying failures, not a new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14:00–15:00 — Limitations / next steps. Better memory robustness, query decomposition, improved weak-topic state, stronger timestamp validation, and slide-frame understanding as a possible future extension (not something that was previously built and removed).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Recap the headline numbers, then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AI ENGINEERING BOOTCAMP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Student's Channel Brain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RAG + agent tutor over MIT 18.06 Linear Algebra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416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covered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40416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32/38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709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tasks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40416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709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40416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4709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OpenCourseWare 18.06  ·  Ingestion → RAG → Reranking → Agent → Gradio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Lectures you can't ask questions 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A31F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“Students have many hours of lecture recordings but cannot query them like course material.”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944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lectures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364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MIT 18.06 Linear Algebra video, taught by Gilbert Strang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1605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recorded lecture content that today can only be watched start-to-finish — never searched, cited, or quizzed from.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606040"/>
            <a:ext cx="5623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9C2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926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9050">
            <a:solidFill>
              <a:srgbClr val="9C2B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944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search it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3649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ask a question and get an answer grounded in the lecture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question answering over the recordings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jump-to-timestamp citations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974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auto-generated quizzes or weak-topic tracking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FINAL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tutor over the full course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18.06 Linear Algebra — all 34 lectures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585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+ citations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7432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with lecture number and exact video timestamp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42316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2585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7432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multiple-choice questions, graded 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8912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2245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Weak-topic memory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091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what the student gets wrong across the conversation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8912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2245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course builder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7091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weak topics (or any topic) into a browsable HTML study module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video to a grounded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1174" cy="265176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2081174" cy="594360"/>
          </a:xfrm>
          <a:prstGeom prst="rect">
            <a:avLst/>
          </a:prstGeom>
          <a:solidFill>
            <a:srgbClr val="A31F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15184"/>
            <a:ext cx="189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8982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archive.org video → FFmpeg audio → faster-whisper STT → timestamped transcripts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11526" y="3182112"/>
            <a:ext cx="201168" cy="219456"/>
          </a:xfrm>
          <a:prstGeom prst="rightArrow">
            <a:avLst/>
          </a:prstGeom>
          <a:solidFill>
            <a:srgbClr val="B8912B"/>
          </a:solidFill>
          <a:ln/>
        </p:spPr>
      </p:sp>
      <p:sp>
        <p:nvSpPr>
          <p:cNvPr id="10" name="Shape 8"/>
          <p:cNvSpPr/>
          <p:nvPr/>
        </p:nvSpPr>
        <p:spPr>
          <a:xfrm>
            <a:off x="2794406" y="1965960"/>
            <a:ext cx="2081174" cy="265176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4406" y="1965960"/>
            <a:ext cx="2081174" cy="594360"/>
          </a:xfrm>
          <a:prstGeom prst="rect">
            <a:avLst/>
          </a:prstGeom>
          <a:solidFill>
            <a:srgbClr val="A31F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85846" y="1965960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 index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5846" y="2615184"/>
            <a:ext cx="189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885846" y="2926080"/>
            <a:ext cx="18982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1200-char chunks → all-MiniLM-L6-v2 embeddings → Chroma (34 lectures / 850 vectors)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57293" y="3182112"/>
            <a:ext cx="201168" cy="219456"/>
          </a:xfrm>
          <a:prstGeom prst="rightArrow">
            <a:avLst/>
          </a:prstGeom>
          <a:solidFill>
            <a:srgbClr val="B89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0173" y="1965960"/>
            <a:ext cx="2081174" cy="265176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0173" y="1965960"/>
            <a:ext cx="2081174" cy="594360"/>
          </a:xfrm>
          <a:prstGeom prst="rect">
            <a:avLst/>
          </a:prstGeom>
          <a:solidFill>
            <a:srgbClr val="A31F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31613" y="1965960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Retrieval + rerank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31613" y="2615184"/>
            <a:ext cx="189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02–04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131613" y="2926080"/>
            <a:ext cx="18982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k=8 → CrossEncoder rerank → top 3 evidence chunks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03059" y="3182112"/>
            <a:ext cx="201168" cy="219456"/>
          </a:xfrm>
          <a:prstGeom prst="rightArrow">
            <a:avLst/>
          </a:prstGeom>
          <a:solidFill>
            <a:srgbClr val="B89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85939" y="1965960"/>
            <a:ext cx="2081174" cy="265176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5939" y="1965960"/>
            <a:ext cx="2081174" cy="594360"/>
          </a:xfrm>
          <a:prstGeom prst="rect">
            <a:avLst/>
          </a:prstGeom>
          <a:solidFill>
            <a:srgbClr val="A31F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77379" y="1965960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77379" y="2615184"/>
            <a:ext cx="189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77379" y="2926080"/>
            <a:ext cx="18982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tutor agent: search, quiz, grade, track weak topics, remember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48826" y="3182112"/>
            <a:ext cx="201168" cy="219456"/>
          </a:xfrm>
          <a:prstGeom prst="rightArrow">
            <a:avLst/>
          </a:prstGeom>
          <a:solidFill>
            <a:srgbClr val="B89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9531706" y="1965960"/>
            <a:ext cx="2081174" cy="265176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1706" y="1965960"/>
            <a:ext cx="2081174" cy="594360"/>
          </a:xfrm>
          <a:prstGeom prst="rect">
            <a:avLst/>
          </a:prstGeom>
          <a:solidFill>
            <a:srgbClr val="A31F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23146" y="1965960"/>
            <a:ext cx="18982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Gradio UI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23146" y="2615184"/>
            <a:ext cx="1898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04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23146" y="2926080"/>
            <a:ext cx="189829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/ Quiz / Weak Topics / Course Builder tabs, traced with LangSmith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64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retrieval path: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1937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(k = 8)  →  CrossEncoder reranker (ms-marco-MiniLM-L6-v2)  →  best 3 evidence chunks  →  tutor / agent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RAG chain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with tools, state, and memory — not a single retrieve-then-answer pass.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search_lecture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7168"/>
            <a:ext cx="313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with lecture + timestamp citations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8160" y="18288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1040" y="201168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create_quiz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11040" y="2487168"/>
            <a:ext cx="313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4-option MCQ from course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7680" y="18288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0560" y="201168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grade_quiz_answer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90560" y="2487168"/>
            <a:ext cx="313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grading, no LLM guesswork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25196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get_weak_topics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727448"/>
            <a:ext cx="313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what the student gets wrong, per session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8160" y="40690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BF3DE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1040" y="425196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11040" y="4727448"/>
            <a:ext cx="313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topic into an HTML study module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(UI-triggered, not an agent tool)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07680" y="40690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0560" y="4251960"/>
            <a:ext cx="313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memory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90560" y="4727448"/>
            <a:ext cx="313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keeps conversation + quiz + weak-topic state per thread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retrieval decisions, tested on 8 questions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1–5  ·  one-change-at-a-time  ·  tracked in LangSmith (project: students-channel-brain)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69164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chars beats 600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194560"/>
            <a:ext cx="3794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 vs 50.0% — clearest measured gain; the final chunking choice.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52360" y="297180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35240" y="3063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vs k = 5: no gain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474720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62.5%. k=3 kept for lower downstream context volume.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0" y="457200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35240" y="4663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Reranker: ordering, not accuracy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5074920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at 62.5%, but added ~29ms latency (0.0163s → 0.0444s). Kept ON — it's part of the intended architecture and demonstrably reorders evidence.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925312"/>
            <a:ext cx="11064240" cy="438912"/>
          </a:xfrm>
          <a:prstGeom prst="roundRect">
            <a:avLst>
              <a:gd name="adj" fmla="val 16667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92531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Small-sample test (n = 8) used only to pick a configuration — not a measure of final accuracy. Full-system result: 84.2% (Slide 8).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5-lecture benchmark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k=8, not k=3?  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2344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benchmark's reranker test only ever saw k=3 candidates — it could reorder evidence but had no room to pull in a better chunk from outside the top 3. Production widens retrieval to k=8 before reranking to fix exactly that.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5120640" cy="502920"/>
          </a:xfrm>
          <a:prstGeom prst="rect">
            <a:avLst/>
          </a:prstGeom>
          <a:solidFill>
            <a:srgbClr val="5F5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stage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Lectures 1–5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k = 3 candidates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Single reranker A/B test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8 fixed retrieval questions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46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Metric: top-lecture correctness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06440" y="3931920"/>
            <a:ext cx="594360" cy="457200"/>
          </a:xfrm>
          <a:prstGeom prst="rightArrow">
            <a:avLst/>
          </a:prstGeom>
          <a:solidFill>
            <a:srgbClr val="B89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21488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A31F34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2677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0632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Lectures 1–34 (all of them)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776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Retrieve 8 → rerank → keep top 3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489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Chroma: 850 vectors, verified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52029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Same chunk size (1200) carried forward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tasks across all 34 lectures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898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1F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47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1280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4408" y="13898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1F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1947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0176" y="1280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0176" y="13898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71616" y="1947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95944" y="128016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AF4F5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95944" y="13898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1F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787384" y="19476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2606040"/>
          <a:ext cx="11064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fails — 3 representative cases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failures total; these three cover the main patterns (full breakdown in the written report).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BEAEA"/>
          </a:solidFill>
          <a:ln w="12700">
            <a:solidFill>
              <a:srgbClr val="E3A9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9C2B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Lecture-Specific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/ completeness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27832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about Lecture 33's left/right inverse. The answer omitted the pseudoinverse, though the pass criteria required all three.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480560"/>
            <a:ext cx="3108960" cy="0"/>
          </a:xfrm>
          <a:prstGeom prst="line">
            <a:avLst/>
          </a:prstGeom>
          <a:noFill/>
          <a:ln w="12700">
            <a:solidFill>
              <a:srgbClr val="E3A9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5902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Content-completeness failure, not a wrong-lecture retrieval.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BEAEA"/>
          </a:solidFill>
          <a:ln w="12700">
            <a:solidFill>
              <a:srgbClr val="E3A9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011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9C2B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Wrong-lecture evidence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227832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Eigendecomposition vs. SVD comparison cited Lectures 22/23 instead of the required foundational Lecture 21 evidence.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4480560"/>
            <a:ext cx="3108960" cy="0"/>
          </a:xfrm>
          <a:prstGeom prst="line">
            <a:avLst/>
          </a:prstGeom>
          <a:noFill/>
          <a:ln w="12700">
            <a:solidFill>
              <a:srgbClr val="E3A9A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45902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was relevant, but lecture selection was wrong.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BEAEA"/>
          </a:solidFill>
          <a:ln w="12700">
            <a:solidFill>
              <a:srgbClr val="E3A9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2011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9C2B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7532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State-tracking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227832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topic given, the course builder fell back to Lecture 31 instead of the student's actual first recorded weak topic, Lecture 21.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4480560"/>
            <a:ext cx="3108960" cy="0"/>
          </a:xfrm>
          <a:prstGeom prst="line">
            <a:avLst/>
          </a:prstGeom>
          <a:noFill/>
          <a:ln w="12700">
            <a:solidFill>
              <a:srgbClr val="E3A9A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45902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Application-state selection failure, not a retrieval problem.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6E9EB"/>
          </a:solidFill>
          <a:ln w="12700">
            <a:solidFill>
              <a:srgbClr val="D8CA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577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failures, one more metric:  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703320" y="5577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 and Task 15 are also the only two citation/timestamp misses behind the 92.9% (26/28) accuracy figure — not a separate problem.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1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00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 robustness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2938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failures were transient runtime/syntax errors in multi-turn flows, not memory misunderstanding — harden session/tool execution.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328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decomposition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620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Multi-concept comparison questions sometimes over-focus on one concept; decompose the query or gather evidence per concept.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6557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weak-topic state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94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builder's automatic topic selection failed once; make weak-topic fallback ordering deterministic and tested.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398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timestamp/citation validation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7274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manually judged (26/28 assessed); automate citation validation across more lectures.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31F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330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1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Slide-frame / visual understanding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6601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future extension — sampling slide or whiteboard frames alongside audio, if scope allows.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Channel Brain — questions welcome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98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32/38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4498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498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38404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82101F"/>
          </a:solidFill>
          <a:ln w="9525">
            <a:solidFill>
              <a:srgbClr val="B891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4498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Bootcamp — Graduation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2026-09-05T01:00:25Z</dcterms:created>
  <dcterms:modified xsi:type="dcterms:W3CDTF">2026-09-05T01:00:25Z</dcterms:modified>
</cp:coreProperties>
</file>